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648" r:id="rId1"/>
  </p:sldMasterIdLst>
  <p:notesMasterIdLst>
    <p:notesMasterId r:id="rId8"/>
  </p:notesMasterIdLst>
  <p:sldIdLst>
    <p:sldId id="262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727272"/>
    <a:srgbClr val="323232"/>
    <a:srgbClr val="9BBB59"/>
    <a:srgbClr val="39B0D4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55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283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3039" y="279198"/>
            <a:ext cx="745879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000" spc="-200"/>
              <a:t>V.S.B.</a:t>
            </a:r>
            <a:r>
              <a:rPr sz="3000" spc="-265"/>
              <a:t> </a:t>
            </a:r>
            <a:r>
              <a:rPr sz="3000" spc="-55"/>
              <a:t>COLLEGE</a:t>
            </a:r>
            <a:r>
              <a:rPr sz="3000" spc="-310"/>
              <a:t> </a:t>
            </a:r>
            <a:r>
              <a:rPr sz="3000" spc="-100"/>
              <a:t>OF</a:t>
            </a:r>
            <a:r>
              <a:rPr sz="3000" spc="-260"/>
              <a:t> </a:t>
            </a:r>
            <a:r>
              <a:rPr sz="3000" spc="-10"/>
              <a:t>ENGINEERING</a:t>
            </a:r>
            <a:r>
              <a:rPr sz="3000" spc="-290"/>
              <a:t> </a:t>
            </a:r>
            <a:r>
              <a:rPr sz="3000" spc="-10"/>
              <a:t>TECHNICAL</a:t>
            </a:r>
            <a:r>
              <a:rPr lang="en-US" sz="3000" spc="-10"/>
              <a:t> CAMPUS</a:t>
            </a:r>
            <a:endParaRPr sz="3000" spc="-10"/>
          </a:p>
        </p:txBody>
      </p:sp>
      <p:sp>
        <p:nvSpPr>
          <p:cNvPr id="3" name="object 3"/>
          <p:cNvSpPr txBox="1"/>
          <p:nvPr/>
        </p:nvSpPr>
        <p:spPr>
          <a:xfrm>
            <a:off x="5364226" y="706577"/>
            <a:ext cx="146558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9008" y="1261784"/>
            <a:ext cx="772668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042795" marR="5080" indent="-2030730">
              <a:lnSpc>
                <a:spcPts val="1730"/>
              </a:lnSpc>
              <a:spcBef>
                <a:spcPts val="310"/>
              </a:spcBef>
            </a:pPr>
            <a:r>
              <a:rPr sz="1600" spc="-40">
                <a:latin typeface="Trebuchet MS" panose="020B0603020202020204"/>
                <a:cs typeface="Trebuchet MS" panose="020B0603020202020204"/>
              </a:rPr>
              <a:t>Approved</a:t>
            </a:r>
            <a:r>
              <a:rPr sz="1600" spc="-90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50">
                <a:latin typeface="Trebuchet MS" panose="020B0603020202020204"/>
                <a:cs typeface="Trebuchet MS" panose="020B0603020202020204"/>
              </a:rPr>
              <a:t>by</a:t>
            </a:r>
            <a:r>
              <a:rPr sz="1600" spc="-110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35">
                <a:latin typeface="Trebuchet MS" panose="020B0603020202020204"/>
                <a:cs typeface="Trebuchet MS" panose="020B0603020202020204"/>
              </a:rPr>
              <a:t>AICTE-</a:t>
            </a:r>
            <a:r>
              <a:rPr sz="1600">
                <a:latin typeface="Trebuchet MS" panose="020B0603020202020204"/>
                <a:cs typeface="Trebuchet MS" panose="020B0603020202020204"/>
              </a:rPr>
              <a:t>New</a:t>
            </a:r>
            <a:r>
              <a:rPr sz="1600" spc="-114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45">
                <a:latin typeface="Trebuchet MS" panose="020B0603020202020204"/>
                <a:cs typeface="Trebuchet MS" panose="020B0603020202020204"/>
              </a:rPr>
              <a:t>Delhi,</a:t>
            </a:r>
            <a:r>
              <a:rPr sz="1600" spc="-85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75">
                <a:latin typeface="Trebuchet MS" panose="020B0603020202020204"/>
                <a:cs typeface="Trebuchet MS" panose="020B0603020202020204"/>
              </a:rPr>
              <a:t>Affiliated</a:t>
            </a:r>
            <a:r>
              <a:rPr sz="1600" spc="-100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70">
                <a:latin typeface="Trebuchet MS" panose="020B0603020202020204"/>
                <a:cs typeface="Trebuchet MS" panose="020B0603020202020204"/>
              </a:rPr>
              <a:t>to</a:t>
            </a:r>
            <a:r>
              <a:rPr sz="1600" spc="-105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>
                <a:latin typeface="Trebuchet MS" panose="020B0603020202020204"/>
                <a:cs typeface="Trebuchet MS" panose="020B0603020202020204"/>
              </a:rPr>
              <a:t>Anna</a:t>
            </a:r>
            <a:r>
              <a:rPr sz="1600" spc="-90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55">
                <a:latin typeface="Trebuchet MS" panose="020B0603020202020204"/>
                <a:cs typeface="Trebuchet MS" panose="020B0603020202020204"/>
              </a:rPr>
              <a:t>University</a:t>
            </a:r>
            <a:r>
              <a:rPr sz="1600" spc="-90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60">
                <a:latin typeface="Trebuchet MS" panose="020B0603020202020204"/>
                <a:cs typeface="Trebuchet MS" panose="020B0603020202020204"/>
              </a:rPr>
              <a:t>-</a:t>
            </a:r>
            <a:r>
              <a:rPr sz="1600" spc="-20">
                <a:latin typeface="Trebuchet MS" panose="020B0603020202020204"/>
                <a:cs typeface="Trebuchet MS" panose="020B0603020202020204"/>
              </a:rPr>
              <a:t>Chennai,</a:t>
            </a:r>
            <a:r>
              <a:rPr sz="1600" spc="-45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40">
                <a:latin typeface="Trebuchet MS" panose="020B0603020202020204"/>
                <a:cs typeface="Trebuchet MS" panose="020B0603020202020204"/>
              </a:rPr>
              <a:t>Accredited</a:t>
            </a:r>
            <a:r>
              <a:rPr sz="1600" spc="-95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75">
                <a:latin typeface="Trebuchet MS" panose="020B0603020202020204"/>
                <a:cs typeface="Trebuchet MS" panose="020B0603020202020204"/>
              </a:rPr>
              <a:t>with</a:t>
            </a:r>
            <a:r>
              <a:rPr sz="1600" spc="-105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25">
                <a:latin typeface="Trebuchet MS" panose="020B0603020202020204"/>
                <a:cs typeface="Trebuchet MS" panose="020B0603020202020204"/>
              </a:rPr>
              <a:t>A+ </a:t>
            </a:r>
            <a:r>
              <a:rPr sz="1600" spc="-30">
                <a:latin typeface="Trebuchet MS" panose="020B0603020202020204"/>
                <a:cs typeface="Trebuchet MS" panose="020B0603020202020204"/>
              </a:rPr>
              <a:t>Grade</a:t>
            </a:r>
            <a:r>
              <a:rPr sz="1600" spc="-105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50">
                <a:latin typeface="Trebuchet MS" panose="020B0603020202020204"/>
                <a:cs typeface="Trebuchet MS" panose="020B0603020202020204"/>
              </a:rPr>
              <a:t>by</a:t>
            </a:r>
            <a:r>
              <a:rPr sz="1600" spc="-105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>
                <a:latin typeface="Trebuchet MS" panose="020B0603020202020204"/>
                <a:cs typeface="Trebuchet MS" panose="020B0603020202020204"/>
              </a:rPr>
              <a:t>NAAC,</a:t>
            </a:r>
            <a:r>
              <a:rPr sz="1600" spc="-100">
                <a:latin typeface="Trebuchet MS" panose="020B0603020202020204"/>
                <a:cs typeface="Trebuchet MS" panose="020B0603020202020204"/>
              </a:rPr>
              <a:t> </a:t>
            </a:r>
            <a:r>
              <a:rPr sz="1600">
                <a:latin typeface="Trebuchet MS" panose="020B0603020202020204"/>
                <a:cs typeface="Trebuchet MS" panose="020B0603020202020204"/>
              </a:rPr>
              <a:t>NBA</a:t>
            </a:r>
            <a:r>
              <a:rPr sz="1600" spc="-114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40">
                <a:latin typeface="Trebuchet MS" panose="020B0603020202020204"/>
                <a:cs typeface="Trebuchet MS" panose="020B0603020202020204"/>
              </a:rPr>
              <a:t>Accredited</a:t>
            </a:r>
            <a:r>
              <a:rPr sz="1600" spc="-100"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>
                <a:latin typeface="Trebuchet MS" panose="020B0603020202020204"/>
                <a:cs typeface="Trebuchet MS" panose="020B0603020202020204"/>
              </a:rPr>
              <a:t>Courses.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572" y="34031"/>
            <a:ext cx="1252220" cy="11669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7346" y="2804066"/>
            <a:ext cx="5545166" cy="23038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6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sz="16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6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SIH25030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6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16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6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Crop Recommendation</a:t>
            </a:r>
          </a:p>
          <a:p>
            <a:pPr marL="12700">
              <a:lnSpc>
                <a:spcPct val="10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					– 	Software</a:t>
            </a:r>
          </a:p>
          <a:p>
            <a:pPr marL="12700">
              <a:lnSpc>
                <a:spcPct val="10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					– 	Agriculture</a:t>
            </a:r>
          </a:p>
          <a:p>
            <a:pPr marL="12700">
              <a:lnSpc>
                <a:spcPct val="10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				– 	CODE TITANS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03720" y="5462931"/>
            <a:ext cx="3425190" cy="1005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 marR="5080" indent="-45720">
              <a:spcBef>
                <a:spcPts val="100"/>
              </a:spcBef>
            </a:pPr>
            <a:r>
              <a:rPr lang="en-US" sz="1600" b="1" spc="-95" dirty="0">
                <a:latin typeface="Segoe UI" panose="020B0502040204020203" pitchFamily="34" charset="0"/>
                <a:cs typeface="Segoe UI" panose="020B0502040204020203" pitchFamily="34" charset="0"/>
              </a:rPr>
              <a:t>MENTOR:</a:t>
            </a:r>
          </a:p>
          <a:p>
            <a:pPr marL="57785" marR="5080" indent="-45720">
              <a:spcBef>
                <a:spcPts val="100"/>
              </a:spcBef>
            </a:pPr>
            <a:endParaRPr lang="en-US" sz="1400" spc="-95" dirty="0">
              <a:latin typeface="Trebuchet MS" panose="020B0603020202020204"/>
              <a:cs typeface="Trebuchet MS" panose="020B0603020202020204"/>
            </a:endParaRPr>
          </a:p>
          <a:p>
            <a:pPr marL="514985" marR="5080" lvl="1" indent="-45720">
              <a:spcBef>
                <a:spcPts val="100"/>
              </a:spcBef>
            </a:pPr>
            <a:r>
              <a:rPr lang="en-US" sz="1600" spc="-95" dirty="0">
                <a:latin typeface="Trebuchet MS" panose="020B0603020202020204"/>
                <a:cs typeface="Trebuchet MS" panose="020B0603020202020204"/>
              </a:rPr>
              <a:t>Narmadha M.D</a:t>
            </a:r>
            <a:endParaRPr lang="en-US" sz="1600" spc="-10" dirty="0">
              <a:latin typeface="Trebuchet MS" panose="020B0603020202020204"/>
              <a:cs typeface="Trebuchet MS" panose="020B0603020202020204"/>
            </a:endParaRPr>
          </a:p>
          <a:p>
            <a:pPr marL="514985" marR="5080" lvl="1" indent="-45720">
              <a:spcBef>
                <a:spcPts val="100"/>
              </a:spcBef>
            </a:pPr>
            <a:r>
              <a:rPr lang="en-US" sz="1600" spc="-45" dirty="0">
                <a:latin typeface="Trebuchet MS" panose="020B0603020202020204"/>
                <a:cs typeface="Trebuchet MS" panose="020B0603020202020204"/>
              </a:rPr>
              <a:t>Department:</a:t>
            </a:r>
            <a:r>
              <a:rPr lang="en-US" sz="1600" spc="-8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1600" spc="45" dirty="0">
                <a:latin typeface="Trebuchet MS" panose="020B0603020202020204"/>
                <a:cs typeface="Trebuchet MS" panose="020B0603020202020204"/>
              </a:rPr>
              <a:t>CSE</a:t>
            </a:r>
            <a:endParaRPr lang="en-US" sz="16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0" y="1817008"/>
            <a:ext cx="4876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Lucida Bright" panose="02040602050505020304" pitchFamily="18" charset="0"/>
                <a:cs typeface="Trebuchet MS" panose="020B0603020202020204"/>
              </a:rPr>
              <a:t>SMART</a:t>
            </a:r>
            <a:r>
              <a:rPr lang="en-US" sz="2400" b="1" spc="-190" dirty="0">
                <a:latin typeface="Lucida Bright" panose="02040602050505020304" pitchFamily="18" charset="0"/>
                <a:cs typeface="Trebuchet MS" panose="020B0603020202020204"/>
              </a:rPr>
              <a:t> </a:t>
            </a:r>
            <a:r>
              <a:rPr lang="en-US" sz="2400" b="1" spc="-10" dirty="0">
                <a:latin typeface="Lucida Bright" panose="02040602050505020304" pitchFamily="18" charset="0"/>
                <a:cs typeface="Trebuchet MS" panose="020B0603020202020204"/>
              </a:rPr>
              <a:t>HARVEST</a:t>
            </a:r>
            <a:r>
              <a:rPr lang="en-US" sz="2400" b="1" spc="-185" dirty="0">
                <a:latin typeface="Lucida Bright" panose="02040602050505020304" pitchFamily="18" charset="0"/>
                <a:cs typeface="Trebuchet MS" panose="020B0603020202020204"/>
              </a:rPr>
              <a:t> </a:t>
            </a:r>
            <a:r>
              <a:rPr lang="en-US" sz="2400" b="1" spc="-10" dirty="0">
                <a:latin typeface="Lucida Bright" panose="02040602050505020304" pitchFamily="18" charset="0"/>
                <a:cs typeface="Trebuchet MS" panose="020B0603020202020204"/>
              </a:rPr>
              <a:t>ADVISOR</a:t>
            </a:r>
            <a:endParaRPr lang="en-US" sz="2400" dirty="0">
              <a:latin typeface="Lucida Bright" panose="02040602050505020304" pitchFamily="18" charset="0"/>
              <a:cs typeface="Trebuchet MS" panose="020B0603020202020204"/>
            </a:endParaRPr>
          </a:p>
          <a:p>
            <a:endParaRPr lang="en-US" dirty="0"/>
          </a:p>
        </p:txBody>
      </p:sp>
      <p:pic>
        <p:nvPicPr>
          <p:cNvPr id="2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2B7363F4-B223-D276-6598-98459CB6A1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CODE</a:t>
            </a:r>
            <a:r>
              <a:rPr lang="en-IN" sz="1500" b="1" i="1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</a:p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TITANS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21979-43CA-4943-EEEC-088E011923A8}"/>
              </a:ext>
            </a:extLst>
          </p:cNvPr>
          <p:cNvSpPr txBox="1"/>
          <p:nvPr/>
        </p:nvSpPr>
        <p:spPr>
          <a:xfrm>
            <a:off x="6903720" y="2807208"/>
            <a:ext cx="47274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spc="-95" dirty="0">
                <a:latin typeface="Segoe UI" panose="020B0502040204020203" pitchFamily="34" charset="0"/>
                <a:cs typeface="Segoe UI" panose="020B0502040204020203" pitchFamily="34" charset="0"/>
              </a:rPr>
              <a:t>Team members : </a:t>
            </a:r>
          </a:p>
          <a:p>
            <a:endParaRPr lang="en-IN" sz="1600" b="1" spc="-95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ASHA DAVID S J (</a:t>
            </a:r>
            <a:r>
              <a:rPr lang="en-IN" i="1" dirty="0"/>
              <a:t>TEAM LEADER</a:t>
            </a:r>
            <a:r>
              <a:rPr lang="en-IN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EVANGELIN VINISHA R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DINESH A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GAGAN B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DHARSAN K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/>
              <a:t>AJAY 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CODE</a:t>
            </a:r>
            <a:r>
              <a:rPr lang="en-IN" sz="1500" b="1" i="1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</a:p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TITANS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D734D7-2C7F-2A04-A823-C784B506630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6028" y="1281219"/>
            <a:ext cx="5687569" cy="541686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hangingPunct="0"/>
            <a:r>
              <a:rPr lang="en-US" altLang="en-US" sz="20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IDEA</a:t>
            </a:r>
            <a:r>
              <a:rPr lang="en-US" altLang="en-US" sz="28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</a:t>
            </a:r>
            <a:r>
              <a:rPr lang="en-US" altLang="en-US" sz="20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Solution:</a:t>
            </a:r>
          </a:p>
          <a:p>
            <a:pPr lvl="1" algn="just" defTabSz="914400" eaLnBrk="0" hangingPunct="0"/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1" defTabSz="914400" eaLnBrk="0" hangingPunct="0"/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Implementation online platform offering expert agricultural guidance.</a:t>
            </a:r>
          </a:p>
          <a:p>
            <a:pPr lvl="1" defTabSz="914400" eaLnBrk="0" hangingPunct="0"/>
            <a:endParaRPr lang="en-US" altLang="en-US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800100" lvl="1" indent="-342900" defTabSz="914400" eaLnBrk="0" hangingPunct="0"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Synthesizes data to provide personalized recommendations across the full crop lifecycle.</a:t>
            </a:r>
          </a:p>
          <a:p>
            <a:pPr lvl="1" defTabSz="914400" eaLnBrk="0" hangingPunct="0"/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800100" lvl="1" indent="-342900" defTabSz="914400" eaLnBrk="0" hangingPunct="0">
              <a:buFont typeface="Courier New" panose="02070309020205020404" pitchFamily="49" charset="0"/>
              <a:buChar char="o"/>
            </a:pPr>
            <a:r>
              <a:rPr lang="en-US" alt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Analyzes specific land conditions</a:t>
            </a:r>
          </a:p>
          <a:p>
            <a:pPr lvl="1" defTabSz="914400" eaLnBrk="0" hangingPunct="0"/>
            <a:r>
              <a:rPr lang="en-US" alt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	of individual farmers.</a:t>
            </a:r>
          </a:p>
          <a:p>
            <a:pPr lvl="1" defTabSz="914400" eaLnBrk="0" hangingPunct="0"/>
            <a:endParaRPr lang="en-US" altLang="en-US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800100" lvl="1" indent="-342900" defTabSz="914400" eaLnBrk="0" hangingPunct="0">
              <a:buFont typeface="Courier New" panose="02070309020205020404" pitchFamily="49" charset="0"/>
              <a:buChar char="o"/>
            </a:pPr>
            <a:r>
              <a:rPr lang="en-US" alt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Recommends the most suitable and profitable crops for cultivation.</a:t>
            </a:r>
          </a:p>
          <a:p>
            <a:pPr lvl="1" defTabSz="914400" eaLnBrk="0" hangingPunct="0"/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800100" lvl="1" indent="-342900" defTabSz="914400" eaLnBrk="0" hangingPunct="0">
              <a:buFont typeface="Courier New" panose="02070309020205020404" pitchFamily="49" charset="0"/>
              <a:buChar char="o"/>
            </a:pPr>
            <a:r>
              <a:rPr lang="en-US" alt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Empowers farmers to make strategic planting decisions.</a:t>
            </a:r>
          </a:p>
          <a:p>
            <a:pPr lvl="1" defTabSz="914400" eaLnBrk="0" hangingPunct="0"/>
            <a:endParaRPr lang="en-US" altLang="en-US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800100" lvl="1" indent="-342900" defTabSz="914400" eaLnBrk="0" hangingPunct="0"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Aims to maximize harvest potential and boost overall productivity.</a:t>
            </a:r>
          </a:p>
          <a:p>
            <a:pPr marL="800100" lvl="1" indent="-342900" defTabSz="914400" eaLnBrk="0" hangingPunct="0"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800100" lvl="1" indent="-342900" algn="just" defTabSz="914400" eaLnBrk="0" hangingPunct="0">
              <a:buFont typeface="Courier New" panose="02070309020205020404" pitchFamily="49" charset="0"/>
              <a:buChar char="o"/>
            </a:pPr>
            <a:endParaRPr lang="en-US" altLang="en-US" sz="1400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28F9CD-F8D0-86C5-1056-25D5CEFFB0BE}"/>
              </a:ext>
            </a:extLst>
          </p:cNvPr>
          <p:cNvSpPr txBox="1"/>
          <p:nvPr/>
        </p:nvSpPr>
        <p:spPr>
          <a:xfrm>
            <a:off x="6095998" y="1279143"/>
            <a:ext cx="5954486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 Resolution :</a:t>
            </a:r>
            <a:endParaRPr lang="en-US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  <a:t>Our Solution: Turning Data into Decisions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  <a:t>From Guesswork to Precision</a:t>
            </a: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 🎯 Uses your farm's unique soil and weather data to recommend the perfect crop, eliminating uncertainty.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  <a:t>Boosts Profit &amp; Reduces Risk</a:t>
            </a: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 📈 Helps you plant smarter to maximize your harvest, increase income, and lower financial risks.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  <a:t>Expert Advice, Simplified</a:t>
            </a: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 🧑‍💻 Puts a digital farming expert in your pocket, offering clear, actionable guidance through an easy-to-use platform.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669F0-7F44-B8DA-D3C3-448A19FD746E}"/>
              </a:ext>
            </a:extLst>
          </p:cNvPr>
          <p:cNvSpPr txBox="1"/>
          <p:nvPr/>
        </p:nvSpPr>
        <p:spPr>
          <a:xfrm>
            <a:off x="6095999" y="4245912"/>
            <a:ext cx="5954485" cy="24314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Unique Value Propositions(UVP):</a:t>
            </a:r>
            <a:endParaRPr lang="en-US" dirty="0">
              <a:solidFill>
                <a:srgbClr val="0070C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We analyze local market prices to suggest crops that will </a:t>
            </a:r>
            <a: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  <a:t>earn you the most profit</a:t>
            </a: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, going beyond just what will grow well.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Access 24/7 expert agricultural advice in an easy-to-use platform (multilingual) right on your phone, making strategic farming simple for everyone.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Get recommendations based on the unique soil and water data of </a:t>
            </a:r>
            <a: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  <a:t>your specific field.</a:t>
            </a:r>
            <a:endParaRPr lang="en-US" sz="1600" dirty="0">
              <a:solidFill>
                <a:srgbClr val="0070C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ADBB5B-A643-D26F-1F55-FE2D50117A9A}"/>
              </a:ext>
            </a:extLst>
          </p:cNvPr>
          <p:cNvSpPr txBox="1"/>
          <p:nvPr/>
        </p:nvSpPr>
        <p:spPr>
          <a:xfrm>
            <a:off x="1947672" y="252246"/>
            <a:ext cx="696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Aharoni" panose="02010803020104030203" pitchFamily="2" charset="-79"/>
                <a:cs typeface="Aharoni" panose="02010803020104030203" pitchFamily="2" charset="-79"/>
              </a:rPr>
              <a:t>AgriCrop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36522"/>
            <a:ext cx="10972800" cy="1143000"/>
          </a:xfrm>
        </p:spPr>
        <p:txBody>
          <a:bodyPr/>
          <a:lstStyle/>
          <a:p>
            <a:pPr marL="571500" indent="-571500" eaLnBrk="1" hangingPunct="1">
              <a:buFont typeface="Wingdings" panose="05000000000000000000" pitchFamily="2" charset="2"/>
              <a:buChar char="v"/>
            </a:pPr>
            <a:r>
              <a:rPr lang="en-US" sz="3600" b="1" dirty="0">
                <a:latin typeface="Aharoni" panose="02010803020104030203" pitchFamily="2" charset="-79"/>
                <a:ea typeface="ＭＳ Ｐゴシック" pitchFamily="1" charset="-128"/>
                <a:cs typeface="Aharoni" panose="02010803020104030203" pitchFamily="2" charset="-79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556606"/>
            <a:ext cx="5055326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Harness hyper-local soil &amp; weather insights</a:t>
            </a:r>
          </a:p>
          <a:p>
            <a:endParaRPr lang="en-IN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Power predictions with smart AI models</a:t>
            </a:r>
          </a:p>
          <a:p>
            <a:endParaRPr lang="en-IN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Deliver instant crop advice via fast APIs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Engage farmers with intuitive, multilingual UI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Visualize data for confident crop choices</a:t>
            </a:r>
            <a:b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CODE</a:t>
            </a:r>
            <a:r>
              <a:rPr lang="en-IN" sz="1500" b="1" i="1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</a:p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TITANS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A5B985-937A-EE3D-C236-0601F4C6A8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16" b="7600"/>
          <a:stretch>
            <a:fillRect/>
          </a:stretch>
        </p:blipFill>
        <p:spPr>
          <a:xfrm>
            <a:off x="5385099" y="1556606"/>
            <a:ext cx="6298866" cy="457200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eaLnBrk="1" hangingPunct="1">
              <a:buFont typeface="Wingdings" panose="05000000000000000000" pitchFamily="2" charset="2"/>
              <a:buChar char="v"/>
            </a:pPr>
            <a:r>
              <a:rPr lang="en-US" sz="3600" b="1" dirty="0">
                <a:latin typeface="Aharoni" panose="02010803020104030203" pitchFamily="2" charset="-79"/>
                <a:ea typeface="ＭＳ Ｐゴシック" pitchFamily="1" charset="-128"/>
                <a:cs typeface="Aharoni" panose="02010803020104030203" pitchFamily="2" charset="-79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18848" y="1479836"/>
            <a:ext cx="93853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Courier New" panose="02070309020205020404" pitchFamily="49" charset="0"/>
              <a:buChar char="o"/>
              <a:defRPr/>
            </a:pPr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FEASIBILITY</a:t>
            </a:r>
          </a:p>
          <a:p>
            <a:pPr marL="457200" lvl="0" indent="-457200" algn="just">
              <a:buFont typeface="Courier New" panose="02070309020205020404" pitchFamily="49" charset="0"/>
              <a:buChar char="o"/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Expected prediction accuracy is up to 97%.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Real-time monitoring and personalized recommendations </a:t>
            </a:r>
          </a:p>
          <a:p>
            <a:pPr marL="457200" lvl="0" indent="-457200" algn="just">
              <a:buFont typeface="Courier New" panose="02070309020205020404" pitchFamily="49" charset="0"/>
              <a:buChar char="o"/>
              <a:defRPr/>
            </a:pPr>
            <a:endParaRPr lang="en-US" sz="2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457200" lvl="0" indent="-457200" algn="just">
              <a:buFont typeface="Courier New" panose="02070309020205020404" pitchFamily="49" charset="0"/>
              <a:buChar char="o"/>
              <a:defRPr/>
            </a:pPr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VIABILITY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914400" lvl="1" indent="-4572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Increases crop yields and optimizes resource use.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914400" lvl="1" indent="-4572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Improves crop health and reduces losses.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914400" lvl="1" indent="-4572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Enhances profitability.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CODE</a:t>
            </a:r>
            <a:r>
              <a:rPr lang="en-IN" sz="1500" b="1" i="1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</a:p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TITANS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eaLnBrk="1" hangingPunct="1">
              <a:buFont typeface="Wingdings" panose="05000000000000000000" pitchFamily="2" charset="2"/>
              <a:buChar char="v"/>
            </a:pPr>
            <a:r>
              <a:rPr lang="en-US" sz="3600" b="1" dirty="0">
                <a:latin typeface="Aharoni" panose="02010803020104030203" pitchFamily="2" charset="-79"/>
                <a:ea typeface="ＭＳ Ｐゴシック" pitchFamily="1" charset="-128"/>
                <a:cs typeface="Aharoni" panose="02010803020104030203" pitchFamily="2" charset="-79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75557" y="1284687"/>
            <a:ext cx="11440886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AI-based crop recommendation is essential to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improve yield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resource efficiency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farmer income </a:t>
            </a:r>
          </a:p>
          <a:p>
            <a:pPr marL="342900" lvl="0" indent="-342900" algn="just">
              <a:buFont typeface="Courier New" panose="02070309020205020404" pitchFamily="49" charset="0"/>
              <a:buChar char="o"/>
              <a:defRPr/>
            </a:pPr>
            <a:endParaRPr 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lvl="0" indent="-342900" algn="just"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Because it enables data-driven, precise decision-making that </a:t>
            </a:r>
            <a:r>
              <a:rPr lang="en-US" sz="2000" i="1" dirty="0">
                <a:solidFill>
                  <a:srgbClr val="32323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traditional methods lack</a:t>
            </a: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  <a:r>
              <a:rPr lang="en-US" sz="2000" dirty="0">
                <a:solidFill>
                  <a:srgbClr val="32323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pPr marL="342900" lvl="0" indent="-342900" algn="just">
              <a:buFont typeface="Courier New" panose="02070309020205020404" pitchFamily="49" charset="0"/>
              <a:buChar char="o"/>
              <a:defRPr/>
            </a:pPr>
            <a:endParaRPr lang="en-US" sz="2000" dirty="0">
              <a:solidFill>
                <a:srgbClr val="323232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  <a:defRPr/>
            </a:pP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Key Benefits :</a:t>
            </a:r>
          </a:p>
          <a:p>
            <a:pPr marL="342900" indent="-342900" algn="just">
              <a:buFont typeface="Courier New" panose="02070309020205020404" pitchFamily="49" charset="0"/>
              <a:buChar char="o"/>
              <a:defRPr/>
            </a:pPr>
            <a:endParaRPr lang="en-IN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Enhanced Crop Yields and Profitability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Risk Management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Real-Time Adaptability and Decision Support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Market and Price Forecasting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Resource Optimization and Sustainability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Accessibility and Ease of Use</a:t>
            </a:r>
            <a:endParaRPr lang="en-IN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lvl="0" indent="-342900" algn="just">
              <a:buFont typeface="Courier New" panose="02070309020205020404" pitchFamily="49" charset="0"/>
              <a:buChar char="o"/>
              <a:defRPr/>
            </a:pPr>
            <a:endParaRPr lang="en-US" sz="2000" dirty="0">
              <a:solidFill>
                <a:prstClr val="black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CODE</a:t>
            </a:r>
            <a:r>
              <a:rPr lang="en-IN" sz="1500" b="1" i="1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</a:p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TITANS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eaLnBrk="1" hangingPunct="1">
              <a:buFont typeface="Wingdings" panose="05000000000000000000" pitchFamily="2" charset="2"/>
              <a:buChar char="v"/>
            </a:pPr>
            <a:r>
              <a:rPr lang="en-US" sz="3600" b="1" dirty="0">
                <a:latin typeface="Aharoni" panose="02010803020104030203" pitchFamily="2" charset="-79"/>
                <a:ea typeface="ＭＳ Ｐゴシック" pitchFamily="1" charset="-128"/>
                <a:cs typeface="Aharoni" panose="02010803020104030203" pitchFamily="2" charset="-79"/>
              </a:rPr>
              <a:t>RESEARCH  AND REFERENCES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CODE</a:t>
            </a:r>
            <a:r>
              <a:rPr lang="en-IN" sz="1500" b="1" i="1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</a:p>
          <a:p>
            <a:pPr algn="ctr"/>
            <a:r>
              <a:rPr lang="en-IN" sz="1500" b="1" dirty="0">
                <a:latin typeface="MV Boli" panose="02000500030200090000" pitchFamily="2" charset="0"/>
                <a:cs typeface="MV Boli" panose="02000500030200090000" pitchFamily="2" charset="0"/>
              </a:rPr>
              <a:t>TITANS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34EB2C-694A-9A2D-A394-92AC5CB35BFE}"/>
              </a:ext>
            </a:extLst>
          </p:cNvPr>
          <p:cNvSpPr txBox="1"/>
          <p:nvPr/>
        </p:nvSpPr>
        <p:spPr>
          <a:xfrm>
            <a:off x="457200" y="1444752"/>
            <a:ext cx="11593286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72727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Use of </a:t>
            </a:r>
            <a:r>
              <a:rPr 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environmental data</a:t>
            </a:r>
            <a:r>
              <a:rPr lang="en-US" sz="2000" dirty="0">
                <a:solidFill>
                  <a:srgbClr val="72727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like soil type, rainfall, temperature, and humidity for accurate recommendations.</a:t>
            </a:r>
          </a:p>
          <a:p>
            <a:endParaRPr lang="en-US" sz="2000" dirty="0">
              <a:solidFill>
                <a:srgbClr val="727272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72727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Adoption of </a:t>
            </a:r>
            <a:r>
              <a:rPr 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Explainable AI (XAI)</a:t>
            </a:r>
            <a:r>
              <a:rPr lang="en-US" sz="2000" dirty="0">
                <a:solidFill>
                  <a:srgbClr val="72727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to make crop suggestions transparent and farmer-friendly.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727272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72727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Focus on </a:t>
            </a:r>
            <a:r>
              <a:rPr 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sustainable agriculture</a:t>
            </a: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000" dirty="0">
                <a:solidFill>
                  <a:srgbClr val="72727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and climate-resilient crop planning</a:t>
            </a:r>
            <a:r>
              <a:rPr lang="en-IN" sz="2000" dirty="0">
                <a:solidFill>
                  <a:srgbClr val="72727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>
              <a:solidFill>
                <a:srgbClr val="727272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500" dirty="0">
                <a:latin typeface="Aharoni" panose="02010803020104030203" pitchFamily="2" charset="-79"/>
                <a:cs typeface="Aharoni" panose="02010803020104030203" pitchFamily="2" charset="-79"/>
              </a:rPr>
              <a:t>References 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IN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1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AI-based Smart Crop Recommendation System for Sustainable Agricultural Production(</a:t>
            </a:r>
            <a:r>
              <a:rPr lang="en-IN" sz="2000" dirty="0">
                <a:solidFill>
                  <a:srgbClr val="01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August 07, 2025</a:t>
            </a:r>
            <a:r>
              <a:rPr lang="en-US" sz="2000" dirty="0">
                <a:solidFill>
                  <a:srgbClr val="01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) - </a:t>
            </a:r>
            <a:r>
              <a:rPr lang="pt-BR" sz="2000" dirty="0">
                <a:solidFill>
                  <a:srgbClr val="01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Aarthi S , Manimegalai S , Sakthivel R.</a:t>
            </a:r>
          </a:p>
          <a:p>
            <a:pPr lvl="1"/>
            <a:endParaRPr lang="en-US" sz="2000" dirty="0">
              <a:solidFill>
                <a:srgbClr val="01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1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Artificial intelligence in agriculture: Advancing crop productivity and sustainability</a:t>
            </a:r>
          </a:p>
          <a:p>
            <a:pPr lvl="1"/>
            <a:r>
              <a:rPr lang="en-US" sz="2000" dirty="0">
                <a:solidFill>
                  <a:srgbClr val="01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(</a:t>
            </a:r>
            <a:r>
              <a:rPr lang="en-IN" sz="2000" dirty="0">
                <a:solidFill>
                  <a:srgbClr val="01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28 February 2025</a:t>
            </a:r>
            <a:r>
              <a:rPr lang="en-US" sz="2000" dirty="0">
                <a:solidFill>
                  <a:srgbClr val="01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) - </a:t>
            </a:r>
            <a:r>
              <a:rPr lang="en-IN" sz="2000" dirty="0">
                <a:solidFill>
                  <a:srgbClr val="01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Nazish Aijaz , Muhammad Salman Pathan.</a:t>
            </a:r>
            <a:endParaRPr lang="en-US" sz="2000" dirty="0">
              <a:solidFill>
                <a:srgbClr val="01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01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8894</TotalTime>
  <Words>564</Words>
  <Application>Microsoft Office PowerPoint</Application>
  <PresentationFormat>Widescreen</PresentationFormat>
  <Paragraphs>119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Aharoni</vt:lpstr>
      <vt:lpstr>Arial</vt:lpstr>
      <vt:lpstr>Calibri</vt:lpstr>
      <vt:lpstr>Courier New</vt:lpstr>
      <vt:lpstr>Lucida Bright</vt:lpstr>
      <vt:lpstr>MV Boli</vt:lpstr>
      <vt:lpstr>Segoe UI</vt:lpstr>
      <vt:lpstr>Times New Roman</vt:lpstr>
      <vt:lpstr>TradeGothic</vt:lpstr>
      <vt:lpstr>Trebuchet MS</vt:lpstr>
      <vt:lpstr>Wingdings</vt:lpstr>
      <vt:lpstr>Office Theme</vt:lpstr>
      <vt:lpstr>V.S.B. COLLEGE OF ENGINEERING TECHNICAL CAMPUS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Gagan B</cp:lastModifiedBy>
  <cp:revision>224</cp:revision>
  <dcterms:created xsi:type="dcterms:W3CDTF">2013-12-12T18:46:50Z</dcterms:created>
  <dcterms:modified xsi:type="dcterms:W3CDTF">2025-11-02T09:53:21Z</dcterms:modified>
  <cp:category/>
</cp:coreProperties>
</file>